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B8CFF"/>
                </a:solidFill>
                <a:latin typeface="Segoe UI"/>
              </a:rPr>
              <a:t>WEB DATA UNLOCKED · BRIGHT DATA × ENTERPRISE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E7ECF3"/>
                </a:solidFill>
                <a:latin typeface="Segoe UI"/>
              </a:rPr>
              <a:t>Vendor </a:t>
            </a:r>
            <a:r>
              <a:rPr sz="6000" b="1" i="0">
                <a:solidFill>
                  <a:srgbClr val="A78BFA"/>
                </a:solidFill>
                <a:latin typeface="Segoe UI"/>
              </a:rPr>
              <a:t>Radar </a:t>
            </a:r>
            <a:r>
              <a:rPr sz="6000" b="1" i="0">
                <a:solidFill>
                  <a:srgbClr val="E7ECF3"/>
                </a:solidFill>
                <a:latin typeface="Segoe UI"/>
              </a:rPr>
              <a:t>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8961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9AA4B5"/>
                </a:solidFill>
                <a:latin typeface="Segoe UI"/>
              </a:rPr>
              <a:t>Continuous, cited vendor-risk intelligence from the live web — with </a:t>
            </a:r>
            <a:r>
              <a:rPr sz="1900" b="1" i="0">
                <a:solidFill>
                  <a:srgbClr val="E7ECF3"/>
                </a:solidFill>
                <a:latin typeface="Segoe UI"/>
              </a:rPr>
              <a:t>Blast Radius</a:t>
            </a:r>
            <a:r>
              <a:rPr sz="1900" b="0" i="0">
                <a:solidFill>
                  <a:srgbClr val="9AA4B5"/>
                </a:solidFill>
                <a:latin typeface="Segoe UI"/>
              </a:rPr>
              <a:t> cascade detection that tells you which connected vendors to investigate, and when.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800600"/>
            <a:ext cx="1947672" cy="365760"/>
          </a:xfrm>
          <a:prstGeom prst="roundRect">
            <a:avLst>
              <a:gd name="adj" fmla="val 50000"/>
            </a:avLst>
          </a:prstGeom>
          <a:solidFill>
            <a:srgbClr val="152038"/>
          </a:solidFill>
          <a:ln w="95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5B8CFF"/>
                </a:solidFill>
                <a:latin typeface="Segoe UI"/>
              </a:rPr>
              <a:t>Bright Data SERP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4800600"/>
            <a:ext cx="1563624" cy="365760"/>
          </a:xfrm>
          <a:prstGeom prst="roundRect">
            <a:avLst>
              <a:gd name="adj" fmla="val 50000"/>
            </a:avLst>
          </a:prstGeom>
          <a:solidFill>
            <a:srgbClr val="152038"/>
          </a:solidFill>
          <a:ln w="95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5B8CFF"/>
                </a:solidFill>
                <a:latin typeface="Segoe UI"/>
              </a:rPr>
              <a:t>Web Unlocker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53712" y="4800600"/>
            <a:ext cx="2139696" cy="365760"/>
          </a:xfrm>
          <a:prstGeom prst="roundRect">
            <a:avLst>
              <a:gd name="adj" fmla="val 50000"/>
            </a:avLst>
          </a:prstGeom>
          <a:solidFill>
            <a:srgbClr val="201A33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A78BFA"/>
                </a:solidFill>
                <a:latin typeface="Segoe UI"/>
              </a:rPr>
              <a:t>AI/ML API · Claude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03136" y="48006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01A33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A78BFA"/>
                </a:solidFill>
                <a:latin typeface="Segoe UI"/>
              </a:rPr>
              <a:t>Hosted 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825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Team bigbros  ·  suriya911-third-party-risk-radar.hf.space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B8CFF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>
                <a:solidFill>
                  <a:srgbClr val="E7ECF3"/>
                </a:solidFill>
                <a:latin typeface="Segoe UI"/>
              </a:rPr>
              <a:t>You learn your vendor was breached </a:t>
            </a:r>
            <a:r>
              <a:rPr sz="3300" b="1" i="0">
                <a:solidFill>
                  <a:srgbClr val="A78BFA"/>
                </a:solidFill>
                <a:latin typeface="Segoe UI"/>
              </a:rPr>
              <a:t>from the news</a:t>
            </a:r>
            <a:r>
              <a:rPr sz="3300" b="1" i="0">
                <a:solidFill>
                  <a:srgbClr val="E7ECF3"/>
                </a:solidFill>
                <a:latin typeface="Segoe UI"/>
              </a:rPr>
              <a:t> — weeks late.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4241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0" i="0">
                <a:solidFill>
                  <a:srgbClr val="A78BFA"/>
                </a:solidFill>
                <a:latin typeface="Segoe UI"/>
              </a:rPr>
              <a:t>▸  </a:t>
            </a:r>
            <a:r>
              <a:rPr sz="1700" b="0" i="0">
                <a:solidFill>
                  <a:srgbClr val="E7ECF3"/>
                </a:solidFill>
                <a:latin typeface="Segoe UI"/>
              </a:rPr>
              <a:t>Enterprises depend on dozens of third parties — identity, CRM, data, CDN.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0" i="0">
                <a:solidFill>
                  <a:srgbClr val="A78BFA"/>
                </a:solidFill>
                <a:latin typeface="Segoe UI"/>
              </a:rPr>
              <a:t>▸  </a:t>
            </a:r>
            <a:r>
              <a:rPr sz="1700" b="0" i="0">
                <a:solidFill>
                  <a:srgbClr val="E7ECF3"/>
                </a:solidFill>
                <a:latin typeface="Segoe UI"/>
              </a:rPr>
              <a:t>Worse: breaches cascade. One stolen OAuth token or compromised identity provider spreads to every connected vendor.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0" i="0">
                <a:solidFill>
                  <a:srgbClr val="A78BFA"/>
                </a:solidFill>
                <a:latin typeface="Segoe UI"/>
              </a:rPr>
              <a:t>▸  </a:t>
            </a:r>
            <a:r>
              <a:rPr sz="1700" b="0" i="0">
                <a:solidFill>
                  <a:srgbClr val="E7ECF3"/>
                </a:solidFill>
                <a:latin typeface="Segoe UI"/>
              </a:rPr>
              <a:t>Companies have a vendor list — but zero visibility into the connections between vendors.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0" i="0">
                <a:solidFill>
                  <a:srgbClr val="A78BFA"/>
                </a:solidFill>
                <a:latin typeface="Segoe UI"/>
              </a:rPr>
              <a:t>▸  </a:t>
            </a:r>
            <a:r>
              <a:rPr sz="1700" b="0" i="0">
                <a:solidFill>
                  <a:srgbClr val="E7ECF3"/>
                </a:solidFill>
                <a:latin typeface="Segoe UI"/>
              </a:rPr>
              <a:t>So they can't answer the only question that matters: “Which of my other vendors are now exposed, and do I act today?”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8251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Vendor Radar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638251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B8CFF"/>
                </a:solidFill>
                <a:latin typeface="Segoe UI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>
                <a:solidFill>
                  <a:srgbClr val="E7ECF3"/>
                </a:solidFill>
                <a:latin typeface="Segoe UI"/>
              </a:rPr>
              <a:t>The 2024–2026 breach story is </a:t>
            </a:r>
            <a:r>
              <a:rPr sz="3300" b="1" i="0">
                <a:solidFill>
                  <a:srgbClr val="A78BFA"/>
                </a:solidFill>
                <a:latin typeface="Segoe UI"/>
              </a:rPr>
              <a:t>connection risk</a:t>
            </a:r>
            <a:r>
              <a:rPr sz="3300" b="1" i="0">
                <a:solidFill>
                  <a:srgbClr val="E7ECF3"/>
                </a:solidFill>
                <a:latin typeface="Segoe U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3346704" cy="182880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2F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523744"/>
            <a:ext cx="2944368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5B8CFF"/>
                </a:solidFill>
                <a:latin typeface="Segoe UI"/>
              </a:rPr>
              <a:t>SALESLOFT-DRIFT</a:t>
            </a:r>
          </a:p>
          <a:p>
            <a:pPr>
              <a:lnSpc>
                <a:spcPct val="105000"/>
              </a:lnSpc>
              <a:spcBef>
                <a:spcPts val="700"/>
              </a:spcBef>
            </a:pPr>
            <a:r>
              <a:rPr sz="1250">
                <a:solidFill>
                  <a:srgbClr val="9AA4B5"/>
                </a:solidFill>
                <a:latin typeface="Segoe UI"/>
              </a:rPr>
              <a:t>One OAuth token cascade reached 700+ orgs — Salesforce, GitHub, CrowdStrike, Slack.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2377440"/>
            <a:ext cx="3346704" cy="182880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2F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523744"/>
            <a:ext cx="2944368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5B8CFF"/>
                </a:solidFill>
                <a:latin typeface="Segoe UI"/>
              </a:rPr>
              <a:t>OKTA → CLOUDFLARE</a:t>
            </a:r>
          </a:p>
          <a:p>
            <a:pPr>
              <a:lnSpc>
                <a:spcPct val="105000"/>
              </a:lnSpc>
              <a:spcBef>
                <a:spcPts val="700"/>
              </a:spcBef>
            </a:pPr>
            <a:r>
              <a:rPr sz="1250">
                <a:solidFill>
                  <a:srgbClr val="9AA4B5"/>
                </a:solidFill>
                <a:latin typeface="Segoe UI"/>
              </a:rPr>
              <a:t>Stolen Okta credentials pivoted into Cloudflare's internal Atlassian.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2377440"/>
            <a:ext cx="3346704" cy="182880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2F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2523744"/>
            <a:ext cx="2944368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5B8CFF"/>
                </a:solidFill>
                <a:latin typeface="Segoe UI"/>
              </a:rPr>
              <a:t>SNOWFLAKE</a:t>
            </a:r>
          </a:p>
          <a:p>
            <a:pPr>
              <a:lnSpc>
                <a:spcPct val="105000"/>
              </a:lnSpc>
              <a:spcBef>
                <a:spcPts val="700"/>
              </a:spcBef>
            </a:pPr>
            <a:r>
              <a:rPr sz="1250">
                <a:solidFill>
                  <a:srgbClr val="9AA4B5"/>
                </a:solidFill>
                <a:latin typeface="Segoe UI"/>
              </a:rPr>
              <a:t>Third-party integrator tokens exposed downstream customer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262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9AA4B5"/>
                </a:solidFill>
                <a:latin typeface="Segoe UI"/>
              </a:rPr>
              <a:t>Vendor scores in isolation miss this entirely. The risk lives </a:t>
            </a:r>
            <a:r>
              <a:rPr sz="1800" b="1" i="0">
                <a:solidFill>
                  <a:srgbClr val="E7ECF3"/>
                </a:solidFill>
                <a:latin typeface="Segoe UI"/>
              </a:rPr>
              <a:t>between</a:t>
            </a:r>
            <a:r>
              <a:rPr sz="1800" b="0" i="0">
                <a:solidFill>
                  <a:srgbClr val="9AA4B5"/>
                </a:solidFill>
                <a:latin typeface="Segoe UI"/>
              </a:rPr>
              <a:t> vendors.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8251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Vendor Radar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38251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B8CFF"/>
                </a:solidFill>
                <a:latin typeface="Segoe UI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>
                <a:solidFill>
                  <a:srgbClr val="E7ECF3"/>
                </a:solidFill>
                <a:latin typeface="Segoe UI"/>
              </a:rPr>
              <a:t>Turn the </a:t>
            </a:r>
            <a:r>
              <a:rPr sz="3300" b="1" i="0">
                <a:solidFill>
                  <a:srgbClr val="A78BFA"/>
                </a:solidFill>
                <a:latin typeface="Segoe UI"/>
              </a:rPr>
              <a:t>live web</a:t>
            </a:r>
            <a:r>
              <a:rPr sz="3300" b="1" i="0">
                <a:solidFill>
                  <a:srgbClr val="E7ECF3"/>
                </a:solidFill>
                <a:latin typeface="Segoe UI"/>
              </a:rPr>
              <a:t> into continuous, cited risk intelligence.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5120640" cy="146304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2F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615184"/>
            <a:ext cx="4718303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5B8CFF"/>
                </a:solidFill>
                <a:latin typeface="Segoe UI"/>
              </a:rPr>
              <a:t>DISCOVER</a:t>
            </a:r>
          </a:p>
          <a:p>
            <a:pPr>
              <a:lnSpc>
                <a:spcPct val="105000"/>
              </a:lnSpc>
              <a:spcBef>
                <a:spcPts val="700"/>
              </a:spcBef>
            </a:pPr>
            <a:r>
              <a:rPr sz="1250">
                <a:solidFill>
                  <a:srgbClr val="9AA4B5"/>
                </a:solidFill>
                <a:latin typeface="Segoe UI"/>
              </a:rPr>
              <a:t>Real-time sweep of Google News, breach trackers, CVE feeds, status pages &amp; regulatory portals — per vendor.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3912" y="2468880"/>
            <a:ext cx="5120640" cy="146304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2F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2615184"/>
            <a:ext cx="4718303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5B8CFF"/>
                </a:solidFill>
                <a:latin typeface="Segoe UI"/>
              </a:rPr>
              <a:t>EXTRACT</a:t>
            </a:r>
          </a:p>
          <a:p>
            <a:pPr>
              <a:lnSpc>
                <a:spcPct val="105000"/>
              </a:lnSpc>
              <a:spcBef>
                <a:spcPts val="700"/>
              </a:spcBef>
            </a:pPr>
            <a:r>
              <a:rPr sz="1250">
                <a:solidFill>
                  <a:srgbClr val="9AA4B5"/>
                </a:solidFill>
                <a:latin typeface="Segoe UI"/>
              </a:rPr>
              <a:t>AI converts raw pages into structured risk signals. Every signal needs a real source URL — never invented.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14800"/>
            <a:ext cx="5120640" cy="146304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2F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261104"/>
            <a:ext cx="4718303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5B8CFF"/>
                </a:solidFill>
                <a:latin typeface="Segoe UI"/>
              </a:rPr>
              <a:t>SCORE</a:t>
            </a:r>
          </a:p>
          <a:p>
            <a:pPr>
              <a:lnSpc>
                <a:spcPct val="105000"/>
              </a:lnSpc>
              <a:spcBef>
                <a:spcPts val="700"/>
              </a:spcBef>
            </a:pPr>
            <a:r>
              <a:rPr sz="1250">
                <a:solidFill>
                  <a:srgbClr val="9AA4B5"/>
                </a:solidFill>
                <a:latin typeface="Segoe UI"/>
              </a:rPr>
              <a:t>Transparent 0–100 risk score with recency decay and vendor-criticality weighting.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4114800"/>
            <a:ext cx="5120640" cy="146304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2F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261104"/>
            <a:ext cx="4718303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5B8CFF"/>
                </a:solidFill>
                <a:latin typeface="Segoe UI"/>
              </a:rPr>
              <a:t>ACT</a:t>
            </a:r>
          </a:p>
          <a:p>
            <a:pPr>
              <a:lnSpc>
                <a:spcPct val="105000"/>
              </a:lnSpc>
              <a:spcBef>
                <a:spcPts val="700"/>
              </a:spcBef>
            </a:pPr>
            <a:r>
              <a:rPr sz="1250">
                <a:solidFill>
                  <a:srgbClr val="9AA4B5"/>
                </a:solidFill>
                <a:latin typeface="Segoe UI"/>
              </a:rPr>
              <a:t>Alerts on new signals + Blast Radius verdicts on cross-vendor cascades.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8251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Vendor Radar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638251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B8CFF"/>
                </a:solidFill>
                <a:latin typeface="Segoe UI"/>
              </a:rPr>
              <a:t>THE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>
                <a:solidFill>
                  <a:srgbClr val="A78BFA"/>
                </a:solidFill>
                <a:latin typeface="Segoe UI"/>
              </a:rPr>
              <a:t>Blast Radius</a:t>
            </a:r>
            <a:r>
              <a:rPr sz="3300" b="1" i="0">
                <a:solidFill>
                  <a:srgbClr val="E7ECF3"/>
                </a:solidFill>
                <a:latin typeface="Segoe UI"/>
              </a:rPr>
              <a:t> — cascade exposure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9AA4B5"/>
                </a:solidFill>
                <a:latin typeface="Segoe UI"/>
              </a:rPr>
              <a:t>Reads recent security incidents across all vendors, auto-discovers the connections (shared attacker, OAuth token, identity provider, cross-vendor mention), clusters them, and issues a verdict per incident.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429000"/>
            <a:ext cx="10451592" cy="1965960"/>
          </a:xfrm>
          <a:prstGeom prst="roundRect">
            <a:avLst>
              <a:gd name="adj" fmla="val 7000"/>
            </a:avLst>
          </a:prstGeom>
          <a:solidFill>
            <a:srgbClr val="1C1830"/>
          </a:solidFill>
          <a:ln w="12700">
            <a:solidFill>
              <a:srgbClr val="44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3657600"/>
            <a:ext cx="2139696" cy="365760"/>
          </a:xfrm>
          <a:prstGeom prst="roundRect">
            <a:avLst>
              <a:gd name="adj" fmla="val 50000"/>
            </a:avLst>
          </a:prstGeom>
          <a:solidFill>
            <a:srgbClr val="2C171B"/>
          </a:solidFill>
          <a:ln w="9525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FF6B6B"/>
                </a:solidFill>
                <a:latin typeface="Segoe UI"/>
              </a:rPr>
              <a:t>⚠  INVESTIGATE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675887"/>
            <a:ext cx="7772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4B5"/>
                </a:solidFill>
                <a:latin typeface="Segoe UI"/>
              </a:rPr>
              <a:t>Salesloft-Drift incident · connected by </a:t>
            </a:r>
            <a:r>
              <a:rPr sz="1300" b="1" i="0">
                <a:solidFill>
                  <a:srgbClr val="FF6B6B"/>
                </a:solidFill>
                <a:latin typeface="Segoe UI"/>
              </a:rPr>
              <a:t>salesloft · drift · oauth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224528"/>
            <a:ext cx="1467612" cy="365760"/>
          </a:xfrm>
          <a:prstGeom prst="roundRect">
            <a:avLst>
              <a:gd name="adj" fmla="val 50000"/>
            </a:avLst>
          </a:prstGeom>
          <a:solidFill>
            <a:srgbClr val="152038"/>
          </a:solidFill>
          <a:ln w="9525">
            <a:solidFill>
              <a:srgbClr val="CF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CFE0FF"/>
                </a:solidFill>
                <a:latin typeface="Segoe UI"/>
              </a:rPr>
              <a:t>CrowdStrike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8900" y="4224528"/>
            <a:ext cx="987552" cy="365760"/>
          </a:xfrm>
          <a:prstGeom prst="roundRect">
            <a:avLst>
              <a:gd name="adj" fmla="val 50000"/>
            </a:avLst>
          </a:prstGeom>
          <a:solidFill>
            <a:srgbClr val="152038"/>
          </a:solidFill>
          <a:ln w="9525">
            <a:solidFill>
              <a:srgbClr val="CF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CFE0FF"/>
                </a:solidFill>
                <a:latin typeface="Segoe UI"/>
              </a:rPr>
              <a:t>GitHub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26180" y="422452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52038"/>
          </a:solidFill>
          <a:ln w="9525">
            <a:solidFill>
              <a:srgbClr val="CF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CFE0FF"/>
                </a:solidFill>
                <a:latin typeface="Segoe UI"/>
              </a:rPr>
              <a:t>Salesforce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7508" y="4224528"/>
            <a:ext cx="891540" cy="365760"/>
          </a:xfrm>
          <a:prstGeom prst="roundRect">
            <a:avLst>
              <a:gd name="adj" fmla="val 50000"/>
            </a:avLst>
          </a:prstGeom>
          <a:solidFill>
            <a:srgbClr val="152038"/>
          </a:solidFill>
          <a:ln w="9525">
            <a:solidFill>
              <a:srgbClr val="CF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CFE0FF"/>
                </a:solidFill>
                <a:latin typeface="Segoe UI"/>
              </a:rPr>
              <a:t>Slack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AA4B5"/>
                </a:solidFill>
                <a:latin typeface="Segoe UI"/>
              </a:rPr>
              <a:t>→ Rotate shared tokens and audit the integrations now.  </a:t>
            </a:r>
            <a:r>
              <a:rPr sz="1350" b="1" i="0">
                <a:solidFill>
                  <a:srgbClr val="46D39A"/>
                </a:solidFill>
                <a:latin typeface="Segoe UI"/>
              </a:rPr>
              <a:t>(4 cited sources)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778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577"/>
                </a:solidFill>
                <a:latin typeface="Segoe UI"/>
              </a:rPr>
              <a:t>Correctly separates the 4-vendor OAuth cascade from the Okta–Cloudflare identity incident.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8251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Vendor Radar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638251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B8CFF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>
                <a:solidFill>
                  <a:srgbClr val="E7ECF3"/>
                </a:solidFill>
                <a:latin typeface="Segoe UI"/>
              </a:rPr>
              <a:t>One pipeline, fully </a:t>
            </a:r>
            <a:r>
              <a:rPr sz="3300" b="1" i="0">
                <a:solidFill>
                  <a:srgbClr val="A78BFA"/>
                </a:solidFill>
                <a:latin typeface="Segoe UI"/>
              </a:rPr>
              <a:t>cited</a:t>
            </a:r>
            <a:r>
              <a:rPr sz="3300" b="1" i="0">
                <a:solidFill>
                  <a:srgbClr val="E7ECF3"/>
                </a:solidFill>
                <a:latin typeface="Segoe UI"/>
              </a:rPr>
              <a:t>, end to 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1801368" cy="114300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578608"/>
            <a:ext cx="1581912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ECF3"/>
                </a:solidFill>
                <a:latin typeface="Segoe UI"/>
              </a:rPr>
              <a:t>Bright Data SERP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950">
                <a:solidFill>
                  <a:srgbClr val="9AA4B5"/>
                </a:solidFill>
                <a:latin typeface="Segoe UI"/>
              </a:rPr>
              <a:t>news discovery, 6 queries/vendor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24328" y="2468880"/>
            <a:ext cx="31089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5B6577"/>
                </a:solidFill>
                <a:latin typeface="Segoe U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35224" y="2468880"/>
            <a:ext cx="1801368" cy="114300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2578608"/>
            <a:ext cx="1581912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ECF3"/>
                </a:solidFill>
                <a:latin typeface="Segoe UI"/>
              </a:rPr>
              <a:t>Web Unlocker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950">
                <a:solidFill>
                  <a:srgbClr val="9AA4B5"/>
                </a:solidFill>
                <a:latin typeface="Segoe UI"/>
              </a:rPr>
              <a:t>403→200 on blocked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2468880"/>
            <a:ext cx="31089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5B6577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7488" y="2468880"/>
            <a:ext cx="1801368" cy="114300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3A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57216" y="2578608"/>
            <a:ext cx="1581912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ECF3"/>
                </a:solidFill>
                <a:latin typeface="Segoe UI"/>
              </a:rPr>
              <a:t>AI/ML API · Claude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950">
                <a:solidFill>
                  <a:srgbClr val="9AA4B5"/>
                </a:solidFill>
                <a:latin typeface="Segoe UI"/>
              </a:rPr>
              <a:t>structured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8855" y="2468880"/>
            <a:ext cx="31089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5B6577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9751" y="2468880"/>
            <a:ext cx="1801368" cy="114300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2F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79" y="2578608"/>
            <a:ext cx="1581912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ECF3"/>
                </a:solidFill>
                <a:latin typeface="Segoe UI"/>
              </a:rPr>
              <a:t>Risk Scorer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950">
                <a:solidFill>
                  <a:srgbClr val="9AA4B5"/>
                </a:solidFill>
                <a:latin typeface="Segoe UI"/>
              </a:rPr>
              <a:t>0–100, recency decay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19" y="2468880"/>
            <a:ext cx="31089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5B6577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2015" y="2468880"/>
            <a:ext cx="1801368" cy="114300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1743" y="2578608"/>
            <a:ext cx="1581912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ECF3"/>
                </a:solidFill>
                <a:latin typeface="Segoe UI"/>
              </a:rPr>
              <a:t>Blast Radius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950">
                <a:solidFill>
                  <a:srgbClr val="9AA4B5"/>
                </a:solidFill>
                <a:latin typeface="Segoe UI"/>
              </a:rPr>
              <a:t>cascade graph + verdicts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3108960" cy="109728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2F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270248"/>
            <a:ext cx="288950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ECF3"/>
                </a:solidFill>
                <a:latin typeface="Segoe UI"/>
              </a:rPr>
              <a:t>FastAPI + SQLite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950">
                <a:solidFill>
                  <a:srgbClr val="9AA4B5"/>
                </a:solidFill>
                <a:latin typeface="Segoe UI"/>
              </a:rPr>
              <a:t>REST API · persistence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4160520"/>
            <a:ext cx="411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5B6577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4160520"/>
            <a:ext cx="3383280" cy="109728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2F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4270248"/>
            <a:ext cx="316382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ECF3"/>
                </a:solidFill>
                <a:latin typeface="Segoe UI"/>
              </a:rPr>
              <a:t>React dashboard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950">
                <a:solidFill>
                  <a:srgbClr val="9AA4B5"/>
                </a:solidFill>
                <a:latin typeface="Segoe UI"/>
              </a:rPr>
              <a:t>scores · alerts · proof · Blast Radius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160520"/>
            <a:ext cx="411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5B6577"/>
                </a:solidFill>
                <a:latin typeface="Segoe UI"/>
              </a:rPr>
              <a:t>+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4160520"/>
            <a:ext cx="3044952" cy="109728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7" y="4270248"/>
            <a:ext cx="282549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ECF3"/>
                </a:solidFill>
                <a:latin typeface="Segoe UI"/>
              </a:rPr>
              <a:t>Hosted MCP (SSE)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950">
                <a:solidFill>
                  <a:srgbClr val="9AA4B5"/>
                </a:solidFill>
                <a:latin typeface="Segoe UI"/>
              </a:rPr>
              <a:t>ask any AI agent: “am I exposed?”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38251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Vendor Radar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638251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B8CFF"/>
                </a:solidFill>
                <a:latin typeface="Segoe UI"/>
              </a:rPr>
              <a:t>TECHNOLOGIES — MEANINGFUL BRIGHT DATA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>
                <a:solidFill>
                  <a:srgbClr val="E7ECF3"/>
                </a:solidFill>
                <a:latin typeface="Segoe UI"/>
              </a:rPr>
              <a:t>3 Bright Data products + AI + MCP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3346704" cy="178308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2F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523744"/>
            <a:ext cx="2944368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5B8CFF"/>
                </a:solidFill>
                <a:latin typeface="Segoe UI"/>
              </a:rPr>
              <a:t>BRIGHT DATA SERP API</a:t>
            </a:r>
          </a:p>
          <a:p>
            <a:pPr>
              <a:lnSpc>
                <a:spcPct val="105000"/>
              </a:lnSpc>
              <a:spcBef>
                <a:spcPts val="700"/>
              </a:spcBef>
            </a:pPr>
            <a:r>
              <a:rPr sz="1250">
                <a:solidFill>
                  <a:srgbClr val="9AA4B5"/>
                </a:solidFill>
                <a:latin typeface="Segoe UI"/>
              </a:rPr>
              <a:t>Live Google News discovery — the freshness engine. 6 risk-category queries per vendor.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2377440"/>
            <a:ext cx="3346704" cy="178308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2F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523744"/>
            <a:ext cx="2944368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5B8CFF"/>
                </a:solidFill>
                <a:latin typeface="Segoe UI"/>
              </a:rPr>
              <a:t>BRIGHT DATA WEB UNLOCKER</a:t>
            </a:r>
          </a:p>
          <a:p>
            <a:pPr>
              <a:lnSpc>
                <a:spcPct val="105000"/>
              </a:lnSpc>
              <a:spcBef>
                <a:spcPts val="700"/>
              </a:spcBef>
            </a:pPr>
            <a:r>
              <a:rPr sz="1250">
                <a:solidFill>
                  <a:srgbClr val="9AA4B5"/>
                </a:solidFill>
                <a:latin typeface="Segoe UI"/>
              </a:rPr>
              <a:t>Bypasses bot protection on breach trackers &amp; trust centers. Provable 403→200.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2377440"/>
            <a:ext cx="3346704" cy="178308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2F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2523744"/>
            <a:ext cx="2944368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5B8CFF"/>
                </a:solidFill>
                <a:latin typeface="Segoe UI"/>
              </a:rPr>
              <a:t>MCP SERVER (HOSTED)</a:t>
            </a:r>
          </a:p>
          <a:p>
            <a:pPr>
              <a:lnSpc>
                <a:spcPct val="105000"/>
              </a:lnSpc>
              <a:spcBef>
                <a:spcPts val="700"/>
              </a:spcBef>
            </a:pPr>
            <a:r>
              <a:rPr sz="1250">
                <a:solidFill>
                  <a:srgbClr val="9AA4B5"/>
                </a:solidFill>
                <a:latin typeface="Segoe UI"/>
              </a:rPr>
              <a:t>Our own MCP server, online over SSE — agent-native risk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526280"/>
            <a:ext cx="2139696" cy="365760"/>
          </a:xfrm>
          <a:prstGeom prst="roundRect">
            <a:avLst>
              <a:gd name="adj" fmla="val 50000"/>
            </a:avLst>
          </a:prstGeom>
          <a:solidFill>
            <a:srgbClr val="201A33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A78BFA"/>
                </a:solidFill>
                <a:latin typeface="Segoe UI"/>
              </a:rPr>
              <a:t>AI/ML API · Claude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72384" y="4526280"/>
            <a:ext cx="1083564" cy="365760"/>
          </a:xfrm>
          <a:prstGeom prst="roundRect">
            <a:avLst>
              <a:gd name="adj" fmla="val 50000"/>
            </a:avLst>
          </a:prstGeom>
          <a:solidFill>
            <a:srgbClr val="1A1D2E"/>
          </a:solidFill>
          <a:ln w="9525">
            <a:solidFill>
              <a:srgbClr val="E7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E7ECF3"/>
                </a:solidFill>
                <a:latin typeface="Segoe UI"/>
              </a:rPr>
              <a:t>FastAPI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5676" y="4526280"/>
            <a:ext cx="2139696" cy="365760"/>
          </a:xfrm>
          <a:prstGeom prst="roundRect">
            <a:avLst>
              <a:gd name="adj" fmla="val 50000"/>
            </a:avLst>
          </a:prstGeom>
          <a:solidFill>
            <a:srgbClr val="1A1D2E"/>
          </a:solidFill>
          <a:ln w="9525">
            <a:solidFill>
              <a:srgbClr val="E7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E7ECF3"/>
                </a:solidFill>
                <a:latin typeface="Segoe UI"/>
              </a:rPr>
              <a:t>React + TypeScript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029200"/>
            <a:ext cx="987552" cy="365760"/>
          </a:xfrm>
          <a:prstGeom prst="roundRect">
            <a:avLst>
              <a:gd name="adj" fmla="val 50000"/>
            </a:avLst>
          </a:prstGeom>
          <a:solidFill>
            <a:srgbClr val="1A1D2E"/>
          </a:solidFill>
          <a:ln w="9525">
            <a:solidFill>
              <a:srgbClr val="E7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E7ECF3"/>
                </a:solidFill>
                <a:latin typeface="Segoe UI"/>
              </a:rPr>
              <a:t>SQLite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5029200"/>
            <a:ext cx="987552" cy="365760"/>
          </a:xfrm>
          <a:prstGeom prst="roundRect">
            <a:avLst>
              <a:gd name="adj" fmla="val 50000"/>
            </a:avLst>
          </a:prstGeom>
          <a:solidFill>
            <a:srgbClr val="1A1D2E"/>
          </a:solidFill>
          <a:ln w="9525">
            <a:solidFill>
              <a:srgbClr val="E7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E7ECF3"/>
                </a:solidFill>
                <a:latin typeface="Segoe UI"/>
              </a:rPr>
              <a:t>Docker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5029200"/>
            <a:ext cx="2235708" cy="365760"/>
          </a:xfrm>
          <a:prstGeom prst="roundRect">
            <a:avLst>
              <a:gd name="adj" fmla="val 50000"/>
            </a:avLst>
          </a:prstGeom>
          <a:solidFill>
            <a:srgbClr val="1A1D2E"/>
          </a:solidFill>
          <a:ln w="9525">
            <a:solidFill>
              <a:srgbClr val="E7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E7ECF3"/>
                </a:solidFill>
                <a:latin typeface="Segoe UI"/>
              </a:rPr>
              <a:t>Hugging Face Spaces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62956" y="5029200"/>
            <a:ext cx="2043684" cy="365760"/>
          </a:xfrm>
          <a:prstGeom prst="roundRect">
            <a:avLst>
              <a:gd name="adj" fmla="val 50000"/>
            </a:avLst>
          </a:prstGeom>
          <a:solidFill>
            <a:srgbClr val="1A1D2E"/>
          </a:solidFill>
          <a:ln w="9525">
            <a:solidFill>
              <a:srgbClr val="E7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E7ECF3"/>
                </a:solidFill>
                <a:latin typeface="Segoe UI"/>
              </a:rPr>
              <a:t>GitHub Actions CI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16368" y="5029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1D2E"/>
          </a:solidFill>
          <a:ln w="9525">
            <a:solidFill>
              <a:srgbClr val="E7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E7ECF3"/>
                </a:solidFill>
                <a:latin typeface="Segoe UI"/>
              </a:rPr>
              <a:t>Pytest ×50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8251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Vendor Radar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638251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B8CFF"/>
                </a:solidFill>
                <a:latin typeface="Segoe UI"/>
              </a:rPr>
              <a:t>LIVE DEMO — WHAT WE'LL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>
                <a:solidFill>
                  <a:srgbClr val="E7ECF3"/>
                </a:solidFill>
                <a:latin typeface="Segoe UI"/>
              </a:rPr>
              <a:t>It's </a:t>
            </a:r>
            <a:r>
              <a:rPr sz="3300" b="1" i="0">
                <a:solidFill>
                  <a:srgbClr val="A78BFA"/>
                </a:solidFill>
                <a:latin typeface="Segoe UI"/>
              </a:rPr>
              <a:t>live</a:t>
            </a:r>
            <a:r>
              <a:rPr sz="3300" b="1" i="0">
                <a:solidFill>
                  <a:srgbClr val="E7ECF3"/>
                </a:solidFill>
                <a:latin typeface="Segoe UI"/>
              </a:rPr>
              <a:t>, not slideware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A78BFA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E7ECF3"/>
                </a:solidFill>
                <a:latin typeface="Segoe UI"/>
              </a:rPr>
              <a:t>Dashboard</a:t>
            </a:r>
            <a:r>
              <a:rPr sz="1700" b="0" i="0">
                <a:solidFill>
                  <a:srgbClr val="9AA4B5"/>
                </a:solidFill>
                <a:latin typeface="Segoe UI"/>
              </a:rPr>
              <a:t> — 10 vendors, color-coded scores, risk-landscape radar.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A78BFA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E7ECF3"/>
                </a:solidFill>
                <a:latin typeface="Segoe UI"/>
              </a:rPr>
              <a:t>Blast Radius</a:t>
            </a:r>
            <a:r>
              <a:rPr sz="1700" b="0" i="0">
                <a:solidFill>
                  <a:srgbClr val="9AA4B5"/>
                </a:solidFill>
                <a:latin typeface="Segoe UI"/>
              </a:rPr>
              <a:t> — the Salesloft cascade with INVESTIGATE verdict + citations.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A78BFA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E7ECF3"/>
                </a:solidFill>
                <a:latin typeface="Segoe UI"/>
              </a:rPr>
              <a:t>403 → 200 proof</a:t>
            </a:r>
            <a:r>
              <a:rPr sz="1700" b="0" i="0">
                <a:solidFill>
                  <a:srgbClr val="9AA4B5"/>
                </a:solidFill>
                <a:latin typeface="Segoe UI"/>
              </a:rPr>
              <a:t> — naive fetch blocked, Web Unlocker succeeds, side by side.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A78BFA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E7ECF3"/>
                </a:solidFill>
                <a:latin typeface="Segoe UI"/>
              </a:rPr>
              <a:t>Live scan</a:t>
            </a:r>
            <a:r>
              <a:rPr sz="1700" b="0" i="0">
                <a:solidFill>
                  <a:srgbClr val="9AA4B5"/>
                </a:solidFill>
                <a:latin typeface="Segoe UI"/>
              </a:rPr>
              <a:t> — click Scan; ~40s later fresh, dated, cited signals appear.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A78BFA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E7ECF3"/>
                </a:solidFill>
                <a:latin typeface="Segoe UI"/>
              </a:rPr>
              <a:t>Hosted MCP</a:t>
            </a:r>
            <a:r>
              <a:rPr sz="1700" b="0" i="0">
                <a:solidFill>
                  <a:srgbClr val="9AA4B5"/>
                </a:solidFill>
                <a:latin typeface="Segoe UI"/>
              </a:rPr>
              <a:t> — ask Claude “Am I exposed to a cascading breach this week?”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B8CFF"/>
                </a:solidFill>
                <a:latin typeface="Segoe UI"/>
              </a:rPr>
              <a:t>suriya911-third-party-risk-radar.hf.space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Vendor Radar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638251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B8CFF"/>
                </a:solidFill>
                <a:latin typeface="Segoe UI"/>
              </a:rPr>
              <a:t>OUTCOMES — VERIFIED IN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>
                <a:solidFill>
                  <a:srgbClr val="E7ECF3"/>
                </a:solidFill>
                <a:latin typeface="Segoe UI"/>
              </a:rPr>
              <a:t>Real data, real cascades, </a:t>
            </a:r>
            <a:r>
              <a:rPr sz="3300" b="1" i="0">
                <a:solidFill>
                  <a:srgbClr val="46D39A"/>
                </a:solidFill>
                <a:latin typeface="Segoe UI"/>
              </a:rPr>
              <a:t>shipped</a:t>
            </a:r>
            <a:r>
              <a:rPr sz="3300" b="1" i="0">
                <a:solidFill>
                  <a:srgbClr val="E7ECF3"/>
                </a:solidFill>
                <a:latin typeface="Segoe U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2496312" cy="155448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2F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578608"/>
            <a:ext cx="213055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6B6B"/>
                </a:solidFill>
                <a:latin typeface="Segoe UI"/>
              </a:rPr>
              <a:t>94.8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00">
                <a:solidFill>
                  <a:srgbClr val="9AA4B5"/>
                </a:solidFill>
                <a:latin typeface="Segoe UI"/>
              </a:rPr>
              <a:t>Okta — Critical, from cited incidents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02152" y="2377440"/>
            <a:ext cx="2496312" cy="155448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2F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5032" y="2578608"/>
            <a:ext cx="213055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A78BFA"/>
                </a:solidFill>
                <a:latin typeface="Segoe UI"/>
              </a:rPr>
              <a:t>2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00">
                <a:solidFill>
                  <a:srgbClr val="9AA4B5"/>
                </a:solidFill>
                <a:latin typeface="Segoe UI"/>
              </a:rPr>
              <a:t>distinct cascades auto-detected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2377440"/>
            <a:ext cx="2496312" cy="155448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2F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4224" y="2578608"/>
            <a:ext cx="213055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46D39A"/>
                </a:solidFill>
                <a:latin typeface="Segoe UI"/>
              </a:rPr>
              <a:t>68→87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00">
                <a:solidFill>
                  <a:srgbClr val="9AA4B5"/>
                </a:solidFill>
                <a:latin typeface="Segoe UI"/>
              </a:rPr>
              <a:t>Salesforce live-scan score jump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0536" y="2377440"/>
            <a:ext cx="2496312" cy="155448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2F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3415" y="2578608"/>
            <a:ext cx="213055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5B8CFF"/>
                </a:solidFill>
                <a:latin typeface="Segoe UI"/>
              </a:rPr>
              <a:t>50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00">
                <a:solidFill>
                  <a:srgbClr val="9AA4B5"/>
                </a:solidFill>
                <a:latin typeface="Segoe UI"/>
              </a:rPr>
              <a:t>tests passing · CI green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9768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A78BFA"/>
                </a:solidFill>
                <a:latin typeface="Segoe UI"/>
              </a:rPr>
              <a:t>▸  </a:t>
            </a:r>
            <a:r>
              <a:rPr sz="1600" b="0" i="0">
                <a:solidFill>
                  <a:srgbClr val="E7ECF3"/>
                </a:solidFill>
                <a:latin typeface="Segoe UI"/>
              </a:rPr>
              <a:t>Live scan verified on the hosted Space — fresh sources (securityweek, cybernews), never mocked.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A78BFA"/>
                </a:solidFill>
                <a:latin typeface="Segoe UI"/>
              </a:rPr>
              <a:t>▸  </a:t>
            </a:r>
            <a:r>
              <a:rPr sz="1600" b="0" i="0">
                <a:solidFill>
                  <a:srgbClr val="E7ECF3"/>
                </a:solidFill>
                <a:latin typeface="Segoe UI"/>
              </a:rPr>
              <a:t>Deployed as one Docker container on Hugging Face Spaces; MCP online over SSE.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8251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Vendor Radar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638251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B8CFF"/>
                </a:solidFill>
                <a:latin typeface="Segoe UI"/>
              </a:rPr>
              <a:t>WHY IT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>
                <a:solidFill>
                  <a:srgbClr val="E7ECF3"/>
                </a:solidFill>
                <a:latin typeface="Segoe UI"/>
              </a:rPr>
              <a:t>Solves the </a:t>
            </a:r>
            <a:r>
              <a:rPr sz="3300" b="1" i="0">
                <a:solidFill>
                  <a:srgbClr val="A78BFA"/>
                </a:solidFill>
                <a:latin typeface="Segoe UI"/>
              </a:rPr>
              <a:t>unsolved</a:t>
            </a:r>
            <a:r>
              <a:rPr sz="3300" b="1" i="0">
                <a:solidFill>
                  <a:srgbClr val="E7ECF3"/>
                </a:solidFill>
                <a:latin typeface="Segoe UI"/>
              </a:rPr>
              <a:t> part of vendor 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5120640" cy="146304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2F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615184"/>
            <a:ext cx="4718303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5B8CFF"/>
                </a:solidFill>
                <a:latin typeface="Segoe UI"/>
              </a:rPr>
              <a:t>REAL PROBLEM</a:t>
            </a:r>
          </a:p>
          <a:p>
            <a:pPr>
              <a:lnSpc>
                <a:spcPct val="105000"/>
              </a:lnSpc>
              <a:spcBef>
                <a:spcPts val="700"/>
              </a:spcBef>
            </a:pPr>
            <a:r>
              <a:rPr sz="1250">
                <a:solidFill>
                  <a:srgbClr val="9AA4B5"/>
                </a:solidFill>
                <a:latin typeface="Segoe UI"/>
              </a:rPr>
              <a:t>Cascade breaches are THE 2024–2026 enterprise security story. We address it head-on.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3912" y="2468880"/>
            <a:ext cx="5120640" cy="146304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2F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2615184"/>
            <a:ext cx="4718303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5B8CFF"/>
                </a:solidFill>
                <a:latin typeface="Segoe UI"/>
              </a:rPr>
              <a:t>NOVEL</a:t>
            </a:r>
          </a:p>
          <a:p>
            <a:pPr>
              <a:lnSpc>
                <a:spcPct val="105000"/>
              </a:lnSpc>
              <a:spcBef>
                <a:spcPts val="700"/>
              </a:spcBef>
            </a:pPr>
            <a:r>
              <a:rPr sz="1250">
                <a:solidFill>
                  <a:srgbClr val="9AA4B5"/>
                </a:solidFill>
                <a:latin typeface="Segoe UI"/>
              </a:rPr>
              <a:t>Everyone scores vendors in isolation. Nobody auto-maps the live connection graph.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14800"/>
            <a:ext cx="5120640" cy="146304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2F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261104"/>
            <a:ext cx="4718303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5B8CFF"/>
                </a:solidFill>
                <a:latin typeface="Segoe UI"/>
              </a:rPr>
              <a:t>DEEP BRIGHT DATA USE</a:t>
            </a:r>
          </a:p>
          <a:p>
            <a:pPr>
              <a:lnSpc>
                <a:spcPct val="105000"/>
              </a:lnSpc>
              <a:spcBef>
                <a:spcPts val="700"/>
              </a:spcBef>
            </a:pPr>
            <a:r>
              <a:rPr sz="1250">
                <a:solidFill>
                  <a:srgbClr val="9AA4B5"/>
                </a:solidFill>
                <a:latin typeface="Segoe UI"/>
              </a:rPr>
              <a:t>SERP + Web Unlocker are core to the product, not bolted 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4114800"/>
            <a:ext cx="5120640" cy="1463040"/>
          </a:xfrm>
          <a:prstGeom prst="roundRect">
            <a:avLst>
              <a:gd name="adj" fmla="val 7000"/>
            </a:avLst>
          </a:prstGeom>
          <a:solidFill>
            <a:srgbClr val="1A1D2E"/>
          </a:solidFill>
          <a:ln w="12700">
            <a:solidFill>
              <a:srgbClr val="2A2F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261104"/>
            <a:ext cx="4718303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5B8CFF"/>
                </a:solidFill>
                <a:latin typeface="Segoe UI"/>
              </a:rPr>
              <a:t>AGENT-NATIVE</a:t>
            </a:r>
          </a:p>
          <a:p>
            <a:pPr>
              <a:lnSpc>
                <a:spcPct val="105000"/>
              </a:lnSpc>
              <a:spcBef>
                <a:spcPts val="700"/>
              </a:spcBef>
            </a:pPr>
            <a:r>
              <a:rPr sz="1250">
                <a:solidFill>
                  <a:srgbClr val="9AA4B5"/>
                </a:solidFill>
                <a:latin typeface="Segoe UI"/>
              </a:rPr>
              <a:t>Hosted MCP makes the whole system usable by any AI agent.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8251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Vendor Radar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638251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B8CFF"/>
                </a:solidFill>
                <a:latin typeface="Segoe UI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>
                <a:solidFill>
                  <a:srgbClr val="E7ECF3"/>
                </a:solidFill>
                <a:latin typeface="Segoe UI"/>
              </a:rPr>
              <a:t>From hackathon to </a:t>
            </a:r>
            <a:r>
              <a:rPr sz="3300" b="1" i="0">
                <a:solidFill>
                  <a:srgbClr val="A78BFA"/>
                </a:solidFill>
                <a:latin typeface="Segoe U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424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0" i="0">
                <a:solidFill>
                  <a:srgbClr val="A78BFA"/>
                </a:solidFill>
                <a:latin typeface="Segoe UI"/>
              </a:rPr>
              <a:t>▸  </a:t>
            </a:r>
            <a:r>
              <a:rPr sz="1700" b="0" i="0">
                <a:solidFill>
                  <a:srgbClr val="E7ECF3"/>
                </a:solidFill>
                <a:latin typeface="Segoe UI"/>
              </a:rPr>
              <a:t>Continuous scheduled scans + Slack/email cascade alerts.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0" i="0">
                <a:solidFill>
                  <a:srgbClr val="A78BFA"/>
                </a:solidFill>
                <a:latin typeface="Segoe UI"/>
              </a:rPr>
              <a:t>▸  </a:t>
            </a:r>
            <a:r>
              <a:rPr sz="1700" b="0" i="0">
                <a:solidFill>
                  <a:srgbClr val="E7ECF3"/>
                </a:solidFill>
                <a:latin typeface="Segoe UI"/>
              </a:rPr>
              <a:t>Deeper connection graph: shared sub-processors &amp; 4th-party dependencies.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0" i="0">
                <a:solidFill>
                  <a:srgbClr val="A78BFA"/>
                </a:solidFill>
                <a:latin typeface="Segoe UI"/>
              </a:rPr>
              <a:t>▸  </a:t>
            </a:r>
            <a:r>
              <a:rPr sz="1700" b="0" i="0">
                <a:solidFill>
                  <a:srgbClr val="E7ECF3"/>
                </a:solidFill>
                <a:latin typeface="Segoe UI"/>
              </a:rPr>
              <a:t>Score-history trends and exposure-over-time per cascade.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0" i="0">
                <a:solidFill>
                  <a:srgbClr val="A78BFA"/>
                </a:solidFill>
                <a:latin typeface="Segoe UI"/>
              </a:rPr>
              <a:t>▸  </a:t>
            </a:r>
            <a:r>
              <a:rPr sz="1700" b="0" i="0">
                <a:solidFill>
                  <a:srgbClr val="E7ECF3"/>
                </a:solidFill>
                <a:latin typeface="Segoe UI"/>
              </a:rPr>
              <a:t>CSV/SSO vendor import for real enterprise portfolios.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8251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Vendor Radar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638251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B8CFF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E7ECF3"/>
                </a:solidFill>
                <a:latin typeface="Segoe UI"/>
              </a:rPr>
              <a:t>Know </a:t>
            </a:r>
            <a:r>
              <a:rPr sz="5200" b="1" i="0">
                <a:solidFill>
                  <a:srgbClr val="A78BFA"/>
                </a:solidFill>
                <a:latin typeface="Segoe UI"/>
              </a:rPr>
              <a:t>first</a:t>
            </a:r>
            <a:r>
              <a:rPr sz="5200" b="1" i="0">
                <a:solidFill>
                  <a:srgbClr val="E7ECF3"/>
                </a:solidFill>
                <a:latin typeface="Segoe UI"/>
              </a:rPr>
              <a:t>. Not from the news.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0">
                <a:solidFill>
                  <a:srgbClr val="E7ECF3"/>
                </a:solidFill>
                <a:latin typeface="Segoe UI"/>
              </a:rPr>
              <a:t>Live demo   </a:t>
            </a:r>
            <a:r>
              <a:rPr sz="1600" b="0" i="0">
                <a:solidFill>
                  <a:srgbClr val="5B8CFF"/>
                </a:solidFill>
                <a:latin typeface="Segoe UI"/>
              </a:rPr>
              <a:t>suriya911-third-party-risk-radar.hf.space</a:t>
            </a:r>
          </a:p>
          <a:p>
            <a:pPr algn="l">
              <a:lnSpc>
                <a:spcPct val="140000"/>
              </a:lnSpc>
            </a:pPr>
            <a:r>
              <a:rPr sz="1600" b="1" i="0">
                <a:solidFill>
                  <a:srgbClr val="E7ECF3"/>
                </a:solidFill>
                <a:latin typeface="Segoe UI"/>
              </a:rPr>
              <a:t>Code        </a:t>
            </a:r>
            <a:r>
              <a:rPr sz="1600" b="0" i="0">
                <a:solidFill>
                  <a:srgbClr val="5B8CFF"/>
                </a:solidFill>
                <a:latin typeface="Segoe UI"/>
              </a:rPr>
              <a:t>github.com/suriya911/3rd-Party-Risk-Radar-System</a:t>
            </a:r>
          </a:p>
          <a:p>
            <a:pPr algn="l">
              <a:lnSpc>
                <a:spcPct val="140000"/>
              </a:lnSpc>
            </a:pPr>
            <a:r>
              <a:rPr sz="1600" b="1" i="0">
                <a:solidFill>
                  <a:srgbClr val="E7ECF3"/>
                </a:solidFill>
                <a:latin typeface="Segoe UI"/>
              </a:rPr>
              <a:t>MCP         </a:t>
            </a:r>
            <a:r>
              <a:rPr sz="1600" b="0" i="0">
                <a:solidFill>
                  <a:srgbClr val="5B8CFF"/>
                </a:solidFill>
                <a:latin typeface="Segoe UI"/>
              </a:rPr>
              <a:t>…hf.space/mcp/sse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029200"/>
            <a:ext cx="1947672" cy="365760"/>
          </a:xfrm>
          <a:prstGeom prst="roundRect">
            <a:avLst>
              <a:gd name="adj" fmla="val 50000"/>
            </a:avLst>
          </a:prstGeom>
          <a:solidFill>
            <a:srgbClr val="152038"/>
          </a:solidFill>
          <a:ln w="95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5B8CFF"/>
                </a:solidFill>
                <a:latin typeface="Segoe UI"/>
              </a:rPr>
              <a:t>Bright Data SERP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5029200"/>
            <a:ext cx="1563624" cy="365760"/>
          </a:xfrm>
          <a:prstGeom prst="roundRect">
            <a:avLst>
              <a:gd name="adj" fmla="val 50000"/>
            </a:avLst>
          </a:prstGeom>
          <a:solidFill>
            <a:srgbClr val="152038"/>
          </a:solidFill>
          <a:ln w="95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5B8CFF"/>
                </a:solidFill>
                <a:latin typeface="Segoe UI"/>
              </a:rPr>
              <a:t>Web Unlocker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53712" y="5029200"/>
            <a:ext cx="1275588" cy="365760"/>
          </a:xfrm>
          <a:prstGeom prst="roundRect">
            <a:avLst>
              <a:gd name="adj" fmla="val 50000"/>
            </a:avLst>
          </a:prstGeom>
          <a:solidFill>
            <a:srgbClr val="201A33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A78BFA"/>
                </a:solidFill>
                <a:latin typeface="Segoe UI"/>
              </a:rPr>
              <a:t>AI/ML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39028" y="5029200"/>
            <a:ext cx="699516" cy="365760"/>
          </a:xfrm>
          <a:prstGeom prst="roundRect">
            <a:avLst>
              <a:gd name="adj" fmla="val 50000"/>
            </a:avLst>
          </a:prstGeom>
          <a:solidFill>
            <a:srgbClr val="201A33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A78BFA"/>
                </a:solidFill>
                <a:latin typeface="Segoe UI"/>
              </a:rPr>
              <a:t>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825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577"/>
                </a:solidFill>
                <a:latin typeface="Segoe UI"/>
              </a:rPr>
              <a:t>Team bigbros · Vendor Radar Risk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